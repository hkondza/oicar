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68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9543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6CF8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3" name="Shape 1"/>
          <p:cNvSpPr/>
          <p:nvPr/>
        </p:nvSpPr>
        <p:spPr>
          <a:xfrm>
            <a:off x="7772400" y="-731520"/>
            <a:ext cx="3200400" cy="3200400"/>
          </a:xfrm>
          <a:prstGeom prst="ellipse">
            <a:avLst/>
          </a:prstGeom>
          <a:solidFill>
            <a:srgbClr val="EBF0FF"/>
          </a:solidFill>
          <a:ln w="12700">
            <a:solidFill>
              <a:srgbClr val="EBF0FF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463040" cy="292608"/>
          </a:xfrm>
          <a:prstGeom prst="rect">
            <a:avLst/>
          </a:prstGeom>
          <a:solidFill>
            <a:srgbClr val="EBF0FF"/>
          </a:solidFill>
          <a:ln w="12700">
            <a:solidFill>
              <a:srgbClr val="EBF0FF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6CF8"/>
                </a:solidFill>
              </a:rPr>
              <a:t>PROJEKT 2025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7373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r-HR" sz="6400" b="1" dirty="0" err="1">
                <a:solidFill>
                  <a:srgbClr val="1A2035"/>
                </a:solidFill>
              </a:rPr>
              <a:t>Booksy</a:t>
            </a:r>
            <a:endParaRPr lang="en-US" sz="6400" dirty="0"/>
          </a:p>
        </p:txBody>
      </p:sp>
      <p:sp>
        <p:nvSpPr>
          <p:cNvPr id="7" name="Shape 5"/>
          <p:cNvSpPr/>
          <p:nvPr/>
        </p:nvSpPr>
        <p:spPr>
          <a:xfrm>
            <a:off x="411480" y="2907792"/>
            <a:ext cx="2926080" cy="36576"/>
          </a:xfrm>
          <a:prstGeom prst="rect">
            <a:avLst/>
          </a:prstGeom>
          <a:solidFill>
            <a:srgbClr val="3B6CF8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8" name="Text 6"/>
          <p:cNvSpPr/>
          <p:nvPr/>
        </p:nvSpPr>
        <p:spPr>
          <a:xfrm>
            <a:off x="411480" y="30175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A5568"/>
                </a:solidFill>
              </a:rPr>
              <a:t>Online sustav rezervacije termina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36118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35"/>
                </a:solidFill>
              </a:rPr>
              <a:t>Članovi tima:  </a:t>
            </a:r>
            <a:r>
              <a:rPr lang="hr-HR" sz="1200" b="1" dirty="0">
                <a:solidFill>
                  <a:srgbClr val="4A5568"/>
                </a:solidFill>
              </a:rPr>
              <a:t>Ivan Jerković</a:t>
            </a:r>
            <a:r>
              <a:rPr lang="en-US" sz="1200" dirty="0">
                <a:solidFill>
                  <a:srgbClr val="4A5568"/>
                </a:solidFill>
              </a:rPr>
              <a:t>•  </a:t>
            </a:r>
            <a:r>
              <a:rPr lang="hr-HR" sz="1200" dirty="0">
                <a:solidFill>
                  <a:srgbClr val="4A5568"/>
                </a:solidFill>
              </a:rPr>
              <a:t>Hrvoje </a:t>
            </a:r>
            <a:r>
              <a:rPr lang="hr-HR" sz="1200" dirty="0" err="1">
                <a:solidFill>
                  <a:srgbClr val="4A5568"/>
                </a:solidFill>
              </a:rPr>
              <a:t>Kondža</a:t>
            </a:r>
            <a:r>
              <a:rPr lang="en-US" sz="1200" dirty="0">
                <a:solidFill>
                  <a:srgbClr val="4A5568"/>
                </a:solidFill>
              </a:rPr>
              <a:t>  •  </a:t>
            </a:r>
            <a:r>
              <a:rPr lang="hr-HR" sz="1200" dirty="0">
                <a:solidFill>
                  <a:srgbClr val="4A5568"/>
                </a:solidFill>
              </a:rPr>
              <a:t>Leonardo </a:t>
            </a:r>
            <a:r>
              <a:rPr lang="hr-HR" sz="1200" dirty="0" err="1">
                <a:solidFill>
                  <a:srgbClr val="4A5568"/>
                </a:solidFill>
              </a:rPr>
              <a:t>Nardiello</a:t>
            </a:r>
            <a:r>
              <a:rPr lang="hr-HR" sz="1200" dirty="0">
                <a:solidFill>
                  <a:srgbClr val="4A5568"/>
                </a:solidFill>
              </a:rPr>
              <a:t> Tomislav Dronjić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9776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35"/>
                </a:solidFill>
              </a:rPr>
              <a:t>Mentor:  </a:t>
            </a:r>
            <a:r>
              <a:rPr lang="en-US" sz="1200" dirty="0">
                <a:solidFill>
                  <a:srgbClr val="4A5568"/>
                </a:solidFill>
              </a:rPr>
              <a:t>Danijel Kučak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617720"/>
            <a:ext cx="54864" cy="320040"/>
          </a:xfrm>
          <a:prstGeom prst="rect">
            <a:avLst/>
          </a:prstGeom>
          <a:solidFill>
            <a:srgbClr val="3B6CF8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3" name="Text 1"/>
          <p:cNvSpPr/>
          <p:nvPr/>
        </p:nvSpPr>
        <p:spPr>
          <a:xfrm>
            <a:off x="530352" y="4617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6AA"/>
                </a:solidFill>
              </a:rPr>
              <a:t>SmartBooking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6AA"/>
                </a:solidFill>
              </a:rPr>
              <a:t>2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2035"/>
                </a:solidFill>
              </a:rPr>
              <a:t>Problem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27432"/>
          </a:xfrm>
          <a:prstGeom prst="rect">
            <a:avLst/>
          </a:prstGeom>
          <a:solidFill>
            <a:srgbClr val="DDE3EE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26517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152400" dist="38100" dir="8100000" algn="bl" rotWithShape="0">
              <a:srgbClr val="1A2035">
                <a:alpha val="8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2651760" cy="54864"/>
          </a:xfrm>
          <a:prstGeom prst="rect">
            <a:avLst/>
          </a:prstGeom>
          <a:solidFill>
            <a:srgbClr val="3B6CF8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150876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21792" y="2194560"/>
            <a:ext cx="2322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035"/>
                </a:solidFill>
              </a:rPr>
              <a:t>Rezervacije telefonom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21792" y="2697480"/>
            <a:ext cx="232257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</a:rPr>
              <a:t>Sporo, podložno greškama i nezgrapno za obje strane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355848" y="1234440"/>
            <a:ext cx="26517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152400" dist="38100" dir="8100000" algn="bl" rotWithShape="0">
              <a:srgbClr val="1A2035">
                <a:alpha val="8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13" name="Shape 10"/>
          <p:cNvSpPr/>
          <p:nvPr/>
        </p:nvSpPr>
        <p:spPr>
          <a:xfrm>
            <a:off x="3355848" y="1234440"/>
            <a:ext cx="2651760" cy="54864"/>
          </a:xfrm>
          <a:prstGeom prst="rect">
            <a:avLst/>
          </a:prstGeom>
          <a:solidFill>
            <a:srgbClr val="3B6CF8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408" y="1508760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20440" y="2194560"/>
            <a:ext cx="2322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035"/>
                </a:solidFill>
              </a:rPr>
              <a:t>Teško praćenje termina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520440" y="2697480"/>
            <a:ext cx="232257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</a:rPr>
              <a:t>Nema centraliziranog pregleda slobodnih termina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254496" y="1234440"/>
            <a:ext cx="26517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152400" dist="38100" dir="8100000" algn="bl" rotWithShape="0">
              <a:srgbClr val="1A2035">
                <a:alpha val="8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18" name="Shape 14"/>
          <p:cNvSpPr/>
          <p:nvPr/>
        </p:nvSpPr>
        <p:spPr>
          <a:xfrm>
            <a:off x="6254496" y="1234440"/>
            <a:ext cx="2651760" cy="54864"/>
          </a:xfrm>
          <a:prstGeom prst="rect">
            <a:avLst/>
          </a:prstGeom>
          <a:solidFill>
            <a:srgbClr val="3B6CF8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6056" y="1508760"/>
            <a:ext cx="548640" cy="5486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19088" y="2194560"/>
            <a:ext cx="23225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035"/>
                </a:solidFill>
              </a:rPr>
              <a:t>Preklapanje termina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419088" y="2697480"/>
            <a:ext cx="232257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</a:rPr>
              <a:t>Dvostruke rezervacije i konflikti u rasporedu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617720"/>
            <a:ext cx="54864" cy="320040"/>
          </a:xfrm>
          <a:prstGeom prst="rect">
            <a:avLst/>
          </a:prstGeom>
          <a:solidFill>
            <a:srgbClr val="3B6CF8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3" name="Text 1"/>
          <p:cNvSpPr/>
          <p:nvPr/>
        </p:nvSpPr>
        <p:spPr>
          <a:xfrm>
            <a:off x="530352" y="4617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6AA"/>
                </a:solidFill>
              </a:rPr>
              <a:t>SmartBooking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6AA"/>
                </a:solidFill>
              </a:rPr>
              <a:t>3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3B6CF8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4572000" cy="4572000"/>
          </a:xfrm>
          <a:prstGeom prst="ellipse">
            <a:avLst/>
          </a:prstGeom>
          <a:solidFill>
            <a:srgbClr val="2450CC"/>
          </a:solidFill>
          <a:ln w="12700">
            <a:solidFill>
              <a:srgbClr val="2450CC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7" name="Text 5"/>
          <p:cNvSpPr/>
          <p:nvPr/>
        </p:nvSpPr>
        <p:spPr>
          <a:xfrm>
            <a:off x="320040" y="457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Rješenje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20040" y="123444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Aplikacija za</a:t>
            </a:r>
            <a:endParaRPr lang="en-US" sz="2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online booking</a:t>
            </a:r>
            <a:endParaRPr lang="en-US" sz="2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termina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0040" y="301752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CE0FF"/>
                </a:solidFill>
              </a:rPr>
              <a:t>Moderna mobilna i web aplikacija koja korisnicima omogućuje jednostavno rezerviranje termina — bez telefona, bez čekanja, bez preklapanja.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0" y="4572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035"/>
                </a:solidFill>
              </a:rPr>
              <a:t>Ključne prednosti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114800" y="1188720"/>
            <a:ext cx="4754880" cy="658368"/>
          </a:xfrm>
          <a:prstGeom prst="rect">
            <a:avLst/>
          </a:prstGeom>
          <a:solidFill>
            <a:srgbClr val="F8F9FB"/>
          </a:solidFill>
          <a:ln w="6350">
            <a:solidFill>
              <a:srgbClr val="DDE3EE"/>
            </a:solidFill>
            <a:prstDash val="solid"/>
          </a:ln>
          <a:effectLst>
            <a:outerShdw blurRad="152400" dist="38100" dir="8100000" algn="bl" rotWithShape="0">
              <a:srgbClr val="1A2035">
                <a:alpha val="8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316736"/>
            <a:ext cx="384048" cy="38404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754880" y="129844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35"/>
                </a:solidFill>
              </a:rPr>
              <a:t>Pregled slobodnih termina u realnom vremenu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114800" y="2084832"/>
            <a:ext cx="4754880" cy="658368"/>
          </a:xfrm>
          <a:prstGeom prst="rect">
            <a:avLst/>
          </a:prstGeom>
          <a:solidFill>
            <a:srgbClr val="F8F9FB"/>
          </a:solidFill>
          <a:ln w="6350">
            <a:solidFill>
              <a:srgbClr val="DDE3EE"/>
            </a:solidFill>
            <a:prstDash val="solid"/>
          </a:ln>
          <a:effectLst>
            <a:outerShdw blurRad="152400" dist="38100" dir="8100000" algn="bl" rotWithShape="0">
              <a:srgbClr val="1A2035">
                <a:alpha val="8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2212848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54880" y="21945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35"/>
                </a:solidFill>
              </a:rPr>
              <a:t>Rezervacija termina za nekoliko sekundi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114800" y="2980944"/>
            <a:ext cx="4754880" cy="658368"/>
          </a:xfrm>
          <a:prstGeom prst="rect">
            <a:avLst/>
          </a:prstGeom>
          <a:solidFill>
            <a:srgbClr val="F8F9FB"/>
          </a:solidFill>
          <a:ln w="6350">
            <a:solidFill>
              <a:srgbClr val="DDE3EE"/>
            </a:solidFill>
            <a:prstDash val="solid"/>
          </a:ln>
          <a:effectLst>
            <a:outerShdw blurRad="152400" dist="38100" dir="8100000" algn="bl" rotWithShape="0">
              <a:srgbClr val="1A2035">
                <a:alpha val="8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3108960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54880" y="309067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35"/>
                </a:solidFill>
              </a:rPr>
              <a:t>Admin panel za upravljanje rasporedom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4114800" y="3877056"/>
            <a:ext cx="4754880" cy="658368"/>
          </a:xfrm>
          <a:prstGeom prst="rect">
            <a:avLst/>
          </a:prstGeom>
          <a:solidFill>
            <a:srgbClr val="F8F9FB"/>
          </a:solidFill>
          <a:ln w="6350">
            <a:solidFill>
              <a:srgbClr val="DDE3EE"/>
            </a:solidFill>
            <a:prstDash val="solid"/>
          </a:ln>
          <a:effectLst>
            <a:outerShdw blurRad="152400" dist="38100" dir="8100000" algn="bl" rotWithShape="0">
              <a:srgbClr val="1A2035">
                <a:alpha val="8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4005072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54880" y="3986784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35"/>
                </a:solidFill>
              </a:rPr>
              <a:t>Automatske obavijesti i podsjetnici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617720"/>
            <a:ext cx="54864" cy="320040"/>
          </a:xfrm>
          <a:prstGeom prst="rect">
            <a:avLst/>
          </a:prstGeom>
          <a:solidFill>
            <a:srgbClr val="3B6CF8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3" name="Text 1"/>
          <p:cNvSpPr/>
          <p:nvPr/>
        </p:nvSpPr>
        <p:spPr>
          <a:xfrm>
            <a:off x="530352" y="4617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6AA"/>
                </a:solidFill>
              </a:rPr>
              <a:t>SmartBooking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6AA"/>
                </a:solidFill>
              </a:rPr>
              <a:t>4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2035"/>
                </a:solidFill>
              </a:rPr>
              <a:t>Kako sustav radi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27432"/>
          </a:xfrm>
          <a:prstGeom prst="rect">
            <a:avLst/>
          </a:prstGeom>
          <a:solidFill>
            <a:srgbClr val="DDE3EE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26517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152400" dist="38100" dir="8100000" algn="bl" rotWithShape="0">
              <a:srgbClr val="1A2035">
                <a:alpha val="8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8" name="Shape 6"/>
          <p:cNvSpPr/>
          <p:nvPr/>
        </p:nvSpPr>
        <p:spPr>
          <a:xfrm>
            <a:off x="1417320" y="1417320"/>
            <a:ext cx="731520" cy="731520"/>
          </a:xfrm>
          <a:prstGeom prst="ellipse">
            <a:avLst/>
          </a:prstGeom>
          <a:solidFill>
            <a:srgbClr val="3B6CF8"/>
          </a:solidFill>
          <a:ln w="12700">
            <a:solidFill>
              <a:srgbClr val="3B6CF8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9" name="Text 7"/>
          <p:cNvSpPr/>
          <p:nvPr/>
        </p:nvSpPr>
        <p:spPr>
          <a:xfrm>
            <a:off x="1417320" y="1417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2286000"/>
            <a:ext cx="548640" cy="548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21792" y="2926080"/>
            <a:ext cx="23225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035"/>
                </a:solidFill>
              </a:rPr>
              <a:t>Korisnik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94360" y="33832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A5568"/>
                </a:solidFill>
              </a:rPr>
              <a:t>Otvara aplikaciju, pregledava slobodne termine i odabire željeni slot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182112" y="2450592"/>
            <a:ext cx="228600" cy="36576"/>
          </a:xfrm>
          <a:prstGeom prst="rect">
            <a:avLst/>
          </a:prstGeom>
          <a:solidFill>
            <a:srgbClr val="DDE3EE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14" name="Text 11"/>
          <p:cNvSpPr/>
          <p:nvPr/>
        </p:nvSpPr>
        <p:spPr>
          <a:xfrm>
            <a:off x="3319272" y="23317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A96AA"/>
                </a:solidFill>
              </a:rPr>
              <a:t>›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3355848" y="1234440"/>
            <a:ext cx="26517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152400" dist="38100" dir="8100000" algn="bl" rotWithShape="0">
              <a:srgbClr val="1A2035">
                <a:alpha val="8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16" name="Shape 13"/>
          <p:cNvSpPr/>
          <p:nvPr/>
        </p:nvSpPr>
        <p:spPr>
          <a:xfrm>
            <a:off x="4315968" y="1417320"/>
            <a:ext cx="731520" cy="731520"/>
          </a:xfrm>
          <a:prstGeom prst="ellipse">
            <a:avLst/>
          </a:prstGeom>
          <a:solidFill>
            <a:srgbClr val="3B6CF8"/>
          </a:solidFill>
          <a:ln w="12700">
            <a:solidFill>
              <a:srgbClr val="3B6CF8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7" name="Text 14"/>
          <p:cNvSpPr/>
          <p:nvPr/>
        </p:nvSpPr>
        <p:spPr>
          <a:xfrm>
            <a:off x="4315968" y="1417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408" y="2286000"/>
            <a:ext cx="548640" cy="5486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520440" y="2926080"/>
            <a:ext cx="23225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035"/>
                </a:solidFill>
              </a:rPr>
              <a:t>Rezervacija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3493008" y="33832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A5568"/>
                </a:solidFill>
              </a:rPr>
              <a:t>Potvrđuje rezervaciju u par klikova — bez telefona, bez čekanja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6080760" y="2450592"/>
            <a:ext cx="228600" cy="36576"/>
          </a:xfrm>
          <a:prstGeom prst="rect">
            <a:avLst/>
          </a:prstGeom>
          <a:solidFill>
            <a:srgbClr val="DDE3EE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22" name="Text 18"/>
          <p:cNvSpPr/>
          <p:nvPr/>
        </p:nvSpPr>
        <p:spPr>
          <a:xfrm>
            <a:off x="6217920" y="23317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A96AA"/>
                </a:solidFill>
              </a:rPr>
              <a:t>›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6254496" y="1234440"/>
            <a:ext cx="26517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152400" dist="38100" dir="8100000" algn="bl" rotWithShape="0">
              <a:srgbClr val="1A2035">
                <a:alpha val="8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24" name="Shape 20"/>
          <p:cNvSpPr/>
          <p:nvPr/>
        </p:nvSpPr>
        <p:spPr>
          <a:xfrm>
            <a:off x="7214616" y="1417320"/>
            <a:ext cx="731520" cy="731520"/>
          </a:xfrm>
          <a:prstGeom prst="ellipse">
            <a:avLst/>
          </a:prstGeom>
          <a:solidFill>
            <a:srgbClr val="3B6CF8"/>
          </a:solidFill>
          <a:ln w="12700">
            <a:solidFill>
              <a:srgbClr val="3B6CF8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25" name="Text 21"/>
          <p:cNvSpPr/>
          <p:nvPr/>
        </p:nvSpPr>
        <p:spPr>
          <a:xfrm>
            <a:off x="7214616" y="1417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6056" y="2286000"/>
            <a:ext cx="548640" cy="54864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419088" y="2926080"/>
            <a:ext cx="23225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035"/>
                </a:solidFill>
              </a:rPr>
              <a:t>Admin panel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391656" y="33832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A5568"/>
                </a:solidFill>
              </a:rPr>
              <a:t>Administrator u realnom vremenu vidi sve rezervacije i upravlja rasporedom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617720"/>
            <a:ext cx="54864" cy="320040"/>
          </a:xfrm>
          <a:prstGeom prst="rect">
            <a:avLst/>
          </a:prstGeom>
          <a:solidFill>
            <a:srgbClr val="3B6CF8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3" name="Text 1"/>
          <p:cNvSpPr/>
          <p:nvPr/>
        </p:nvSpPr>
        <p:spPr>
          <a:xfrm>
            <a:off x="530352" y="4617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6AA"/>
                </a:solidFill>
              </a:rPr>
              <a:t>SmartBooking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6AA"/>
                </a:solidFill>
              </a:rPr>
              <a:t>5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2035"/>
                </a:solidFill>
              </a:rPr>
              <a:t>Glavne funkcionalnosti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27432"/>
          </a:xfrm>
          <a:prstGeom prst="rect">
            <a:avLst/>
          </a:prstGeom>
          <a:solidFill>
            <a:srgbClr val="DDE3EE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3886200" cy="3474720"/>
          </a:xfrm>
          <a:prstGeom prst="rect">
            <a:avLst/>
          </a:prstGeom>
          <a:solidFill>
            <a:srgbClr val="F8F9FB"/>
          </a:solidFill>
          <a:ln w="6350">
            <a:solidFill>
              <a:srgbClr val="DDE3EE"/>
            </a:solidFill>
            <a:prstDash val="solid"/>
          </a:ln>
          <a:effectLst>
            <a:outerShdw blurRad="152400" dist="38100" dir="8100000" algn="bl" rotWithShape="0">
              <a:srgbClr val="1A2035">
                <a:alpha val="8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3886200" cy="54864"/>
          </a:xfrm>
          <a:prstGeom prst="rect">
            <a:avLst/>
          </a:prstGeom>
          <a:solidFill>
            <a:srgbClr val="3B6CF8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9" name="Text 7"/>
          <p:cNvSpPr/>
          <p:nvPr/>
        </p:nvSpPr>
        <p:spPr>
          <a:xfrm>
            <a:off x="594360" y="1298448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6CF8"/>
                </a:solidFill>
              </a:rPr>
              <a:t>Za korisnike</a:t>
            </a:r>
            <a:endParaRPr lang="en-US" sz="16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82880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60120" y="17830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35"/>
                </a:solidFill>
              </a:rPr>
              <a:t>Registracija i prijava u sustav</a:t>
            </a:r>
            <a:endParaRPr lang="en-US" sz="13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48716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0120" y="244144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35"/>
                </a:solidFill>
              </a:rPr>
              <a:t>Pregled slobodnih termina (real-time)</a:t>
            </a:r>
            <a:endParaRPr lang="en-US" sz="13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145536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0120" y="309981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35"/>
                </a:solidFill>
              </a:rPr>
              <a:t>Online rezervacija i otkazivanje</a:t>
            </a:r>
            <a:endParaRPr lang="en-US" sz="13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803904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60120" y="375818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35"/>
                </a:solidFill>
              </a:rPr>
              <a:t>Obavijesti i podsjetnici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4800600" y="1188720"/>
            <a:ext cx="3886200" cy="3474720"/>
          </a:xfrm>
          <a:prstGeom prst="rect">
            <a:avLst/>
          </a:prstGeom>
          <a:solidFill>
            <a:srgbClr val="F8F9FB"/>
          </a:solidFill>
          <a:ln w="6350">
            <a:solidFill>
              <a:srgbClr val="DDE3EE"/>
            </a:solidFill>
            <a:prstDash val="solid"/>
          </a:ln>
          <a:effectLst>
            <a:outerShdw blurRad="152400" dist="38100" dir="8100000" algn="bl" rotWithShape="0">
              <a:srgbClr val="1A2035">
                <a:alpha val="8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19" name="Shape 13"/>
          <p:cNvSpPr/>
          <p:nvPr/>
        </p:nvSpPr>
        <p:spPr>
          <a:xfrm>
            <a:off x="4800600" y="1188720"/>
            <a:ext cx="3886200" cy="54864"/>
          </a:xfrm>
          <a:prstGeom prst="rect">
            <a:avLst/>
          </a:prstGeom>
          <a:solidFill>
            <a:srgbClr val="1A2035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20" name="Text 14"/>
          <p:cNvSpPr/>
          <p:nvPr/>
        </p:nvSpPr>
        <p:spPr>
          <a:xfrm>
            <a:off x="4937760" y="1298448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035"/>
                </a:solidFill>
              </a:rPr>
              <a:t>Za administratore</a:t>
            </a:r>
            <a:endParaRPr lang="en-US" sz="16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828800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303520" y="17830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35"/>
                </a:solidFill>
              </a:rPr>
              <a:t>Upravljanje rasporedom i terminima</a:t>
            </a:r>
            <a:endParaRPr lang="en-US" sz="13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487168"/>
            <a:ext cx="274320" cy="27432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303520" y="244144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35"/>
                </a:solidFill>
              </a:rPr>
              <a:t>Pregled i potvrda rezervacija</a:t>
            </a:r>
            <a:endParaRPr lang="en-US" sz="130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145536"/>
            <a:ext cx="274320" cy="27432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303520" y="309981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35"/>
                </a:solidFill>
              </a:rPr>
              <a:t>Statistike i izvještaji</a:t>
            </a:r>
            <a:endParaRPr lang="en-US" sz="130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803904"/>
            <a:ext cx="274320" cy="27432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303520" y="375818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035"/>
                </a:solidFill>
              </a:rPr>
              <a:t>Web admin panel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617720"/>
            <a:ext cx="54864" cy="320040"/>
          </a:xfrm>
          <a:prstGeom prst="rect">
            <a:avLst/>
          </a:prstGeom>
          <a:solidFill>
            <a:srgbClr val="3B6CF8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3" name="Text 1"/>
          <p:cNvSpPr/>
          <p:nvPr/>
        </p:nvSpPr>
        <p:spPr>
          <a:xfrm>
            <a:off x="530352" y="4617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6AA"/>
                </a:solidFill>
              </a:rPr>
              <a:t>SmartBooking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6AA"/>
                </a:solidFill>
              </a:rPr>
              <a:t>6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2035"/>
                </a:solidFill>
              </a:rPr>
              <a:t>Tehnologije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27432"/>
          </a:xfrm>
          <a:prstGeom prst="rect">
            <a:avLst/>
          </a:prstGeom>
          <a:solidFill>
            <a:srgbClr val="DDE3EE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265176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152400" dist="38100" dir="8100000" algn="bl" rotWithShape="0">
              <a:srgbClr val="1A2035">
                <a:alpha val="8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2651760" cy="54864"/>
          </a:xfrm>
          <a:prstGeom prst="rect">
            <a:avLst/>
          </a:prstGeom>
          <a:solidFill>
            <a:srgbClr val="3B6CF8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1463040"/>
            <a:ext cx="566928" cy="56692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21488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035"/>
                </a:solidFill>
              </a:rPr>
              <a:t>Frontend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417320" y="2560320"/>
            <a:ext cx="731520" cy="36576"/>
          </a:xfrm>
          <a:prstGeom prst="rect">
            <a:avLst/>
          </a:prstGeom>
          <a:solidFill>
            <a:srgbClr val="3B6CF8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12" name="Text 9"/>
          <p:cNvSpPr/>
          <p:nvPr/>
        </p:nvSpPr>
        <p:spPr>
          <a:xfrm>
            <a:off x="621792" y="2743200"/>
            <a:ext cx="23225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</a:rPr>
              <a:t>Kotlin  —  Mobilna Android aplikacija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21792" y="3401568"/>
            <a:ext cx="23225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</a:rPr>
              <a:t>React / HTML  —  Web admin aplikacija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355848" y="1234440"/>
            <a:ext cx="265176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152400" dist="38100" dir="8100000" algn="bl" rotWithShape="0">
              <a:srgbClr val="1A2035">
                <a:alpha val="8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15" name="Shape 12"/>
          <p:cNvSpPr/>
          <p:nvPr/>
        </p:nvSpPr>
        <p:spPr>
          <a:xfrm>
            <a:off x="3355848" y="1234440"/>
            <a:ext cx="2651760" cy="54864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408" y="1463040"/>
            <a:ext cx="566928" cy="56692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47288" y="21488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035"/>
                </a:solidFill>
              </a:rPr>
              <a:t>Backend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4315968" y="2560320"/>
            <a:ext cx="731520" cy="36576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19" name="Text 15"/>
          <p:cNvSpPr/>
          <p:nvPr/>
        </p:nvSpPr>
        <p:spPr>
          <a:xfrm>
            <a:off x="3520440" y="2743200"/>
            <a:ext cx="23225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</a:rPr>
              <a:t>Java Spring Boot  —  REST API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3520440" y="3401568"/>
            <a:ext cx="23225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</a:rPr>
              <a:t>JSON komunikacija s frontendima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254496" y="1234440"/>
            <a:ext cx="265176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  <a:effectLst>
            <a:outerShdw blurRad="152400" dist="38100" dir="8100000" algn="bl" rotWithShape="0">
              <a:srgbClr val="1A2035">
                <a:alpha val="8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22" name="Shape 18"/>
          <p:cNvSpPr/>
          <p:nvPr/>
        </p:nvSpPr>
        <p:spPr>
          <a:xfrm>
            <a:off x="6254496" y="1234440"/>
            <a:ext cx="265176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hr-HR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6056" y="1463040"/>
            <a:ext cx="566928" cy="56692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345936" y="21488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035"/>
                </a:solidFill>
              </a:rPr>
              <a:t>Baza podataka</a:t>
            </a:r>
            <a:endParaRPr lang="en-US" sz="1500" dirty="0"/>
          </a:p>
        </p:txBody>
      </p:sp>
      <p:sp>
        <p:nvSpPr>
          <p:cNvPr id="25" name="Shape 20"/>
          <p:cNvSpPr/>
          <p:nvPr/>
        </p:nvSpPr>
        <p:spPr>
          <a:xfrm>
            <a:off x="7214616" y="2560320"/>
            <a:ext cx="73152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26" name="Text 21"/>
          <p:cNvSpPr/>
          <p:nvPr/>
        </p:nvSpPr>
        <p:spPr>
          <a:xfrm>
            <a:off x="6419088" y="2743200"/>
            <a:ext cx="23225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</a:rPr>
              <a:t>PostgreSQL  —  Relacijska SQL baza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6419088" y="3401568"/>
            <a:ext cx="23225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</a:rPr>
              <a:t>Structurirani model podataka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617720"/>
            <a:ext cx="54864" cy="320040"/>
          </a:xfrm>
          <a:prstGeom prst="rect">
            <a:avLst/>
          </a:prstGeom>
          <a:solidFill>
            <a:srgbClr val="3B6CF8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3" name="Text 1"/>
          <p:cNvSpPr/>
          <p:nvPr/>
        </p:nvSpPr>
        <p:spPr>
          <a:xfrm>
            <a:off x="530352" y="4617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6AA"/>
                </a:solidFill>
              </a:rPr>
              <a:t>SmartBooking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6AA"/>
                </a:solidFill>
              </a:rPr>
              <a:t>7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2035"/>
                </a:solidFill>
              </a:rPr>
              <a:t>Plan razvoja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27432"/>
          </a:xfrm>
          <a:prstGeom prst="rect">
            <a:avLst/>
          </a:prstGeom>
          <a:solidFill>
            <a:srgbClr val="DDE3EE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7" name="Shape 5"/>
          <p:cNvSpPr/>
          <p:nvPr/>
        </p:nvSpPr>
        <p:spPr>
          <a:xfrm>
            <a:off x="731520" y="1938528"/>
            <a:ext cx="7680960" cy="36576"/>
          </a:xfrm>
          <a:prstGeom prst="rect">
            <a:avLst/>
          </a:prstGeom>
          <a:solidFill>
            <a:srgbClr val="DDE3EE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8" name="Shape 6"/>
          <p:cNvSpPr/>
          <p:nvPr/>
        </p:nvSpPr>
        <p:spPr>
          <a:xfrm>
            <a:off x="1097280" y="1801368"/>
            <a:ext cx="292608" cy="292608"/>
          </a:xfrm>
          <a:prstGeom prst="ellipse">
            <a:avLst/>
          </a:prstGeom>
          <a:solidFill>
            <a:srgbClr val="3B6CF8"/>
          </a:solidFill>
          <a:ln w="12700">
            <a:solidFill>
              <a:srgbClr val="3B6CF8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9" name="Shape 7"/>
          <p:cNvSpPr/>
          <p:nvPr/>
        </p:nvSpPr>
        <p:spPr>
          <a:xfrm>
            <a:off x="594360" y="2194560"/>
            <a:ext cx="1828800" cy="2560320"/>
          </a:xfrm>
          <a:prstGeom prst="rect">
            <a:avLst/>
          </a:prstGeom>
          <a:solidFill>
            <a:srgbClr val="EBF0FF"/>
          </a:solidFill>
          <a:ln w="6350">
            <a:solidFill>
              <a:srgbClr val="3B6CF8"/>
            </a:solidFill>
            <a:prstDash val="solid"/>
          </a:ln>
          <a:effectLst>
            <a:outerShdw blurRad="152400" dist="38100" dir="8100000" algn="bl" rotWithShape="0">
              <a:srgbClr val="1A2035">
                <a:alpha val="8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10" name="Text 8"/>
          <p:cNvSpPr/>
          <p:nvPr/>
        </p:nvSpPr>
        <p:spPr>
          <a:xfrm>
            <a:off x="594360" y="2240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6CF8"/>
                </a:solidFill>
              </a:rPr>
              <a:t>Faza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4871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6AA"/>
                </a:solidFill>
              </a:rPr>
              <a:t>Tjedan 1–2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05840" y="2779776"/>
            <a:ext cx="1005840" cy="27432"/>
          </a:xfrm>
          <a:prstGeom prst="rect">
            <a:avLst/>
          </a:prstGeom>
          <a:solidFill>
            <a:srgbClr val="3B6CF8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13" name="Text 11"/>
          <p:cNvSpPr/>
          <p:nvPr/>
        </p:nvSpPr>
        <p:spPr>
          <a:xfrm>
            <a:off x="594360" y="28346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035"/>
                </a:solidFill>
              </a:rPr>
              <a:t>Analiza i dizajn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" y="3273552"/>
            <a:ext cx="1700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</a:rPr>
              <a:t>Definiranje zahtjeva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3685032"/>
            <a:ext cx="1700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</a:rPr>
              <a:t>UX prototip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" y="4096512"/>
            <a:ext cx="1700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</a:rPr>
              <a:t>Arhitektura sustava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46120" y="1801368"/>
            <a:ext cx="292608" cy="292608"/>
          </a:xfrm>
          <a:prstGeom prst="ellipse">
            <a:avLst/>
          </a:prstGeom>
          <a:solidFill>
            <a:srgbClr val="DDE3EE"/>
          </a:solidFill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8" name="Shape 16"/>
          <p:cNvSpPr/>
          <p:nvPr/>
        </p:nvSpPr>
        <p:spPr>
          <a:xfrm>
            <a:off x="2743200" y="2194560"/>
            <a:ext cx="1828800" cy="2560320"/>
          </a:xfrm>
          <a:prstGeom prst="rect">
            <a:avLst/>
          </a:prstGeom>
          <a:solidFill>
            <a:srgbClr val="F8F9FB"/>
          </a:solidFill>
          <a:ln w="6350">
            <a:solidFill>
              <a:srgbClr val="DDE3EE"/>
            </a:solidFill>
            <a:prstDash val="solid"/>
          </a:ln>
          <a:effectLst>
            <a:outerShdw blurRad="152400" dist="38100" dir="8100000" algn="bl" rotWithShape="0">
              <a:srgbClr val="1A2035">
                <a:alpha val="8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19" name="Text 17"/>
          <p:cNvSpPr/>
          <p:nvPr/>
        </p:nvSpPr>
        <p:spPr>
          <a:xfrm>
            <a:off x="2743200" y="2240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96AA"/>
                </a:solidFill>
              </a:rPr>
              <a:t>Faza 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0" y="24871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6AA"/>
                </a:solidFill>
              </a:rPr>
              <a:t>Tjedan 3–6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54680" y="2779776"/>
            <a:ext cx="1005840" cy="27432"/>
          </a:xfrm>
          <a:prstGeom prst="rect">
            <a:avLst/>
          </a:prstGeom>
          <a:solidFill>
            <a:srgbClr val="DDE3EE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22" name="Text 20"/>
          <p:cNvSpPr/>
          <p:nvPr/>
        </p:nvSpPr>
        <p:spPr>
          <a:xfrm>
            <a:off x="2743200" y="28346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035"/>
                </a:solidFill>
              </a:rPr>
              <a:t>Razvoj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807208" y="3273552"/>
            <a:ext cx="1700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</a:rPr>
              <a:t>Backend API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807208" y="3685032"/>
            <a:ext cx="1700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</a:rPr>
              <a:t>Frontend UI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807208" y="4096512"/>
            <a:ext cx="1700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</a:rPr>
              <a:t>Integracija baze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94960" y="1801368"/>
            <a:ext cx="292608" cy="292608"/>
          </a:xfrm>
          <a:prstGeom prst="ellipse">
            <a:avLst/>
          </a:prstGeom>
          <a:solidFill>
            <a:srgbClr val="DDE3EE"/>
          </a:solidFill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27" name="Shape 25"/>
          <p:cNvSpPr/>
          <p:nvPr/>
        </p:nvSpPr>
        <p:spPr>
          <a:xfrm>
            <a:off x="4892040" y="2194560"/>
            <a:ext cx="1828800" cy="2560320"/>
          </a:xfrm>
          <a:prstGeom prst="rect">
            <a:avLst/>
          </a:prstGeom>
          <a:solidFill>
            <a:srgbClr val="F8F9FB"/>
          </a:solidFill>
          <a:ln w="6350">
            <a:solidFill>
              <a:srgbClr val="DDE3EE"/>
            </a:solidFill>
            <a:prstDash val="solid"/>
          </a:ln>
          <a:effectLst>
            <a:outerShdw blurRad="152400" dist="38100" dir="8100000" algn="bl" rotWithShape="0">
              <a:srgbClr val="1A2035">
                <a:alpha val="8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28" name="Text 26"/>
          <p:cNvSpPr/>
          <p:nvPr/>
        </p:nvSpPr>
        <p:spPr>
          <a:xfrm>
            <a:off x="4892040" y="2240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96AA"/>
                </a:solidFill>
              </a:rPr>
              <a:t>Faza 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24871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6AA"/>
                </a:solidFill>
              </a:rPr>
              <a:t>Tjedan 7–8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303520" y="2779776"/>
            <a:ext cx="1005840" cy="27432"/>
          </a:xfrm>
          <a:prstGeom prst="rect">
            <a:avLst/>
          </a:prstGeom>
          <a:solidFill>
            <a:srgbClr val="DDE3EE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31" name="Text 29"/>
          <p:cNvSpPr/>
          <p:nvPr/>
        </p:nvSpPr>
        <p:spPr>
          <a:xfrm>
            <a:off x="4892040" y="28346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035"/>
                </a:solidFill>
              </a:rPr>
              <a:t>Testiranje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956048" y="3273552"/>
            <a:ext cx="1700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</a:rPr>
              <a:t>Unit testovi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56048" y="3685032"/>
            <a:ext cx="1700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</a:rPr>
              <a:t>QA i bugfixes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56048" y="4096512"/>
            <a:ext cx="1700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</a:rPr>
              <a:t>Korisničko testiranje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543800" y="1801368"/>
            <a:ext cx="292608" cy="292608"/>
          </a:xfrm>
          <a:prstGeom prst="ellipse">
            <a:avLst/>
          </a:prstGeom>
          <a:solidFill>
            <a:srgbClr val="DDE3EE"/>
          </a:solidFill>
          <a:ln w="12700">
            <a:solidFill>
              <a:srgbClr val="DDE3EE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36" name="Shape 34"/>
          <p:cNvSpPr/>
          <p:nvPr/>
        </p:nvSpPr>
        <p:spPr>
          <a:xfrm>
            <a:off x="7040880" y="2194560"/>
            <a:ext cx="1828800" cy="2560320"/>
          </a:xfrm>
          <a:prstGeom prst="rect">
            <a:avLst/>
          </a:prstGeom>
          <a:solidFill>
            <a:srgbClr val="F8F9FB"/>
          </a:solidFill>
          <a:ln w="6350">
            <a:solidFill>
              <a:srgbClr val="DDE3EE"/>
            </a:solidFill>
            <a:prstDash val="solid"/>
          </a:ln>
          <a:effectLst>
            <a:outerShdw blurRad="152400" dist="38100" dir="8100000" algn="bl" rotWithShape="0">
              <a:srgbClr val="1A2035">
                <a:alpha val="8000"/>
              </a:srgbClr>
            </a:outerShdw>
          </a:effectLst>
        </p:spPr>
        <p:txBody>
          <a:bodyPr/>
          <a:lstStyle/>
          <a:p>
            <a:endParaRPr lang="hr-HR"/>
          </a:p>
        </p:txBody>
      </p:sp>
      <p:sp>
        <p:nvSpPr>
          <p:cNvPr id="37" name="Text 35"/>
          <p:cNvSpPr/>
          <p:nvPr/>
        </p:nvSpPr>
        <p:spPr>
          <a:xfrm>
            <a:off x="7040880" y="2240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96AA"/>
                </a:solidFill>
              </a:rPr>
              <a:t>Faza 4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040880" y="248716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6AA"/>
                </a:solidFill>
              </a:rPr>
              <a:t>Tjedan 9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452360" y="2779776"/>
            <a:ext cx="1005840" cy="27432"/>
          </a:xfrm>
          <a:prstGeom prst="rect">
            <a:avLst/>
          </a:prstGeom>
          <a:solidFill>
            <a:srgbClr val="DDE3EE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40" name="Text 38"/>
          <p:cNvSpPr/>
          <p:nvPr/>
        </p:nvSpPr>
        <p:spPr>
          <a:xfrm>
            <a:off x="7040880" y="28346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035"/>
                </a:solidFill>
              </a:rPr>
              <a:t>Objava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104888" y="3273552"/>
            <a:ext cx="1700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</a:rPr>
              <a:t>Deployment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104888" y="3685032"/>
            <a:ext cx="1700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</a:rPr>
              <a:t>Dokumentacija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104888" y="4096512"/>
            <a:ext cx="1700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</a:rPr>
              <a:t>Prezentacija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371600"/>
            <a:ext cx="6400800" cy="6400800"/>
          </a:xfrm>
          <a:prstGeom prst="ellipse">
            <a:avLst/>
          </a:prstGeom>
          <a:solidFill>
            <a:srgbClr val="202840"/>
          </a:solidFill>
          <a:ln w="12700">
            <a:solidFill>
              <a:srgbClr val="202840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202840"/>
          </a:solidFill>
          <a:ln w="12700">
            <a:solidFill>
              <a:srgbClr val="202840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863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7200" b="1" dirty="0">
                <a:solidFill>
                  <a:srgbClr val="FFFFFF"/>
                </a:solidFill>
              </a:rPr>
              <a:t>Hvala na</a:t>
            </a:r>
            <a:endParaRPr lang="en-US" sz="7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200" b="1" dirty="0">
                <a:solidFill>
                  <a:srgbClr val="FFFFFF"/>
                </a:solidFill>
              </a:rPr>
              <a:t>pažnji!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3657600" cy="36576"/>
          </a:xfrm>
          <a:prstGeom prst="rect">
            <a:avLst/>
          </a:prstGeom>
          <a:solidFill>
            <a:srgbClr val="3B6CF8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6" name="Text 4"/>
          <p:cNvSpPr/>
          <p:nvPr/>
        </p:nvSpPr>
        <p:spPr>
          <a:xfrm>
            <a:off x="640080" y="33375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AABB"/>
                </a:solidFill>
              </a:rPr>
              <a:t>SmartBooking  —  Online sustav rezervacije termina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8404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Tu smo za sva vaša pitanja 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312</Words>
  <Application>Microsoft Office PowerPoint</Application>
  <PresentationFormat>Prikaz na zaslonu (16:9)</PresentationFormat>
  <Paragraphs>104</Paragraphs>
  <Slides>8</Slides>
  <Notes>8</Notes>
  <HiddenSlides>0</HiddenSlides>
  <MMClips>0</MMClips>
  <ScaleCrop>false</ScaleCrop>
  <HeadingPairs>
    <vt:vector size="6" baseType="variant">
      <vt:variant>
        <vt:lpstr>Korišteni fontovi</vt:lpstr>
      </vt:variant>
      <vt:variant>
        <vt:i4>1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SmartBooking</dc:title>
  <dc:subject>PptxGenJS Presentation</dc:subject>
  <dc:creator>PptxGenJS</dc:creator>
  <cp:lastModifiedBy>Tomislav Dronjić | Student</cp:lastModifiedBy>
  <cp:revision>2</cp:revision>
  <dcterms:created xsi:type="dcterms:W3CDTF">2026-03-10T20:58:01Z</dcterms:created>
  <dcterms:modified xsi:type="dcterms:W3CDTF">2026-03-10T21:05:27Z</dcterms:modified>
</cp:coreProperties>
</file>